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D1DD0-AA3F-B4E8-7444-56BEB9044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DA2EC8-1492-4621-2988-A3E644DE51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AF677-0C04-69AE-FA18-0C2D49AB1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32B87-3F2C-49AF-821A-1043DCCF92A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7C06D-C1F2-FC8A-642C-72B8DE15B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94866-A983-D32B-C0FA-3DB6D569E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9FC3-0E68-4FCD-830E-98BBF9F6F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537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A603C-6692-E028-4B5B-31C43832D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162FA-7F7D-EF55-013D-8AC64BFF8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FA399-7405-403D-FCEB-459BE16AC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32B87-3F2C-49AF-821A-1043DCCF92A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54F79-F830-D8A6-A482-8C3BD07A4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28973-03FA-D918-50F7-E5BC4D557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9FC3-0E68-4FCD-830E-98BBF9F6F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204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1226A-743D-EC29-219A-BDE66A3C5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0A873-C177-D8E4-16E1-FA1B91B99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10261-0562-2564-F14F-ACD0051A9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32B87-3F2C-49AF-821A-1043DCCF92A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6DD9F-7EA1-4053-C955-7FC7B9C8A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76D44-6443-59AA-3077-8FD58963F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9FC3-0E68-4FCD-830E-98BBF9F6F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46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DBFBB-A683-8903-3274-050A36048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4E6A9-B10C-0347-16E0-22AC20C1F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EFE59-46B9-B260-9DA8-C54D8DF4F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850676-725C-268B-0634-54E9B6BAC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32B87-3F2C-49AF-821A-1043DCCF92A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48EB5-BC46-DE7D-D760-E1F51F3B0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92327-0560-95A4-95D3-351806E41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9FC3-0E68-4FCD-830E-98BBF9F6F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32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07F7F-431E-BFFC-9ABA-AA8B24A6A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2E663-094F-8712-2D5F-398AADFCC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3283A-5449-F04F-62AF-0DECBD6CC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2B0907-8792-18B3-22DE-B95B9AD444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DB0144-9903-D68B-5E4A-4E87145FC8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8963A-E9B3-3C22-D8C0-31D55FFEE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32B87-3F2C-49AF-821A-1043DCCF92A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984F01-30B9-6032-D826-10F00E5F2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13D4CC-0EEE-3E43-E9CD-FF68C7CC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9FC3-0E68-4FCD-830E-98BBF9F6F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878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968F9-A00E-B6B6-7869-F552FBAE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5F91E6-5EE3-B3D5-B732-A60E3B39E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32B87-3F2C-49AF-821A-1043DCCF92A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46C577-5338-7B28-A3AA-8FCF23149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E87A45-C3B3-2178-44F1-3ED99B0EC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9FC3-0E68-4FCD-830E-98BBF9F6F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41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436175-102D-0C2B-5A9E-F680726BF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32B87-3F2C-49AF-821A-1043DCCF92A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37BC8E-A2CB-703D-6B80-B4F2CDCD6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ED77C-1537-64E8-0A9F-2F9E2407E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9FC3-0E68-4FCD-830E-98BBF9F6F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57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333AC-576B-25A5-3C62-D5534D08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70BEB-5940-0E54-2898-D5F7BD577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F7F17B-BF44-E29C-364C-3D8CD9921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236B1-23F0-C338-3B3E-4756FC19F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32B87-3F2C-49AF-821A-1043DCCF92A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38C10-4588-1FC1-8915-F18E74D66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E25E3-B15A-C9DB-2BDE-4AC8C2B6C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9FC3-0E68-4FCD-830E-98BBF9F6F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89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E46D-2641-A40F-F24D-DB562271D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1FCDC9-E618-5AA6-0D5E-BC93046AB7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97582-0E0B-ED05-DE53-8B15E0933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0B2B1A-CBB1-F9BA-47F8-596DBF0EA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32B87-3F2C-49AF-821A-1043DCCF92A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DBC74-CF1B-68B9-404B-AAA591EB2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A88F9-859B-B1AF-34FC-CC181CCD6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9FC3-0E68-4FCD-830E-98BBF9F6F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176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80635-BDF2-51AC-D33A-E571537A5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C2169B-C1AE-11CC-CB22-7FFC8A75DB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BF356-3565-D91F-89D0-C1AE71ED0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32B87-3F2C-49AF-821A-1043DCCF92A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63315-0231-A892-C008-752F64EB4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EF1A4-4F45-A6DD-2F7C-450C62388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9FC3-0E68-4FCD-830E-98BBF9F6F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238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71C0C1-26AB-806F-BDAE-0D952A9133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BAA142-B197-35B1-42CB-BA2EF97C64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035E8-62E4-A8C3-FF72-15EB2E193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32B87-3F2C-49AF-821A-1043DCCF92A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E465F-587F-B71C-D687-24F519147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025E2-2149-38F1-4952-606FD7560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9FC3-0E68-4FCD-830E-98BBF9F6F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45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98254-A4D2-546D-FDB5-1EED439E7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53D37-CEE0-7F2B-413C-D3740AF54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6315F-5E42-ADEA-EEC7-77F560204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32B87-3F2C-49AF-821A-1043DCCF92A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3A798-DA2C-86F7-101C-116A7A12E7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1AAB3-982B-B8F4-9971-A7E44B4EF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1C9FC3-0E68-4FCD-830E-98BBF9F6FB0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942570-CF67-7692-B540-D2DE0F1809C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05500" y="6365240"/>
            <a:ext cx="41275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9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275383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363F095-2D3C-DDCA-DA09-CD37EF63D6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4600" y="257705"/>
            <a:ext cx="9144000" cy="35189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ADF </a:t>
            </a:r>
            <a:r>
              <a:rPr lang="en-US" dirty="0" err="1"/>
              <a:t>tvmaze_data_load</a:t>
            </a:r>
            <a:endParaRPr lang="en-US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7E7CAE-CBAC-0698-AAEB-D17EACE7FA9B}"/>
              </a:ext>
            </a:extLst>
          </p:cNvPr>
          <p:cNvSpPr/>
          <p:nvPr/>
        </p:nvSpPr>
        <p:spPr>
          <a:xfrm>
            <a:off x="635000" y="2099733"/>
            <a:ext cx="3005667" cy="27008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FetchAPIdata</a:t>
            </a:r>
            <a:endParaRPr lang="en-US" b="1" dirty="0"/>
          </a:p>
          <a:p>
            <a:pPr algn="ctr"/>
            <a:r>
              <a:rPr lang="en-US" dirty="0"/>
              <a:t>Databricks Notebook Activity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Fetch </a:t>
            </a:r>
            <a:r>
              <a:rPr lang="en-US" dirty="0" err="1"/>
              <a:t>Tvmaze</a:t>
            </a:r>
            <a:r>
              <a:rPr lang="en-US" dirty="0"/>
              <a:t> API data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Load bronze tables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3260A2-6AA7-423D-7270-1F23F6E232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904" y="4114800"/>
            <a:ext cx="951493" cy="49953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1119830-4063-17BC-F732-ECBCD2EEEB7B}"/>
              </a:ext>
            </a:extLst>
          </p:cNvPr>
          <p:cNvSpPr/>
          <p:nvPr/>
        </p:nvSpPr>
        <p:spPr>
          <a:xfrm>
            <a:off x="4648199" y="2125134"/>
            <a:ext cx="3268135" cy="26500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BronzeToSilver</a:t>
            </a:r>
            <a:endParaRPr lang="en-US" b="1" dirty="0"/>
          </a:p>
          <a:p>
            <a:pPr algn="ctr"/>
            <a:r>
              <a:rPr lang="en-US" dirty="0"/>
              <a:t>Databricks Notebook Activity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Flatten JSON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Clean/Normalize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Load Silver tables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Load </a:t>
            </a:r>
            <a:r>
              <a:rPr lang="en-US" dirty="0" err="1"/>
              <a:t>Fact_show_table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89384B-4095-5D65-F02D-487CFF8FD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304" y="4241799"/>
            <a:ext cx="951493" cy="49953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98E2FD8-4390-B148-3AF1-0F8E762A8E27}"/>
              </a:ext>
            </a:extLst>
          </p:cNvPr>
          <p:cNvSpPr/>
          <p:nvPr/>
        </p:nvSpPr>
        <p:spPr>
          <a:xfrm>
            <a:off x="8881533" y="2099733"/>
            <a:ext cx="3090333" cy="26839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SilverToGold</a:t>
            </a:r>
            <a:endParaRPr lang="en-US" b="1" dirty="0"/>
          </a:p>
          <a:p>
            <a:pPr algn="ctr"/>
            <a:r>
              <a:rPr lang="en-US" dirty="0"/>
              <a:t>Databricks Notebook Activity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Aggregations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Window Function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Load </a:t>
            </a:r>
            <a:r>
              <a:rPr lang="en-US" dirty="0" err="1"/>
              <a:t>gold_metrics</a:t>
            </a:r>
            <a:r>
              <a:rPr lang="en-US" dirty="0"/>
              <a:t> table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F3FD414-A5F5-1C87-EF6E-E089C66D2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5770" y="4174066"/>
            <a:ext cx="951493" cy="49953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2F7DF1B-951C-188B-512C-4308E992CA77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3640667" y="3450166"/>
            <a:ext cx="1007532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896A8D-25F2-0219-7042-185BE637BD32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7916334" y="3450168"/>
            <a:ext cx="9567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25411F95-D17C-8233-6EE4-0B324A5D6B67}"/>
              </a:ext>
            </a:extLst>
          </p:cNvPr>
          <p:cNvSpPr/>
          <p:nvPr/>
        </p:nvSpPr>
        <p:spPr>
          <a:xfrm>
            <a:off x="3318933" y="2421466"/>
            <a:ext cx="1464734" cy="8720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On Success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F29C261-7C2E-7F75-42E1-7292FFB8E3BB}"/>
              </a:ext>
            </a:extLst>
          </p:cNvPr>
          <p:cNvSpPr/>
          <p:nvPr/>
        </p:nvSpPr>
        <p:spPr>
          <a:xfrm>
            <a:off x="7653866" y="2353733"/>
            <a:ext cx="1464734" cy="8720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On Success</a:t>
            </a:r>
          </a:p>
        </p:txBody>
      </p:sp>
    </p:spTree>
    <p:extLst>
      <p:ext uri="{BB962C8B-B14F-4D97-AF65-F5344CB8AC3E}">
        <p14:creationId xmlns:p14="http://schemas.microsoft.com/office/powerpoint/2010/main" val="2620733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af293e6-3850-4258-b2c7-0aa0e3bfa7d9}" enabled="1" method="Privileged" siteId="{b9fec68c-c92d-461e-9a97-3d03a0f18b82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CGI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Panigrahi, Debasmita</dc:creator>
  <cp:lastModifiedBy>Panigrahi, Debasmita</cp:lastModifiedBy>
  <cp:revision>1</cp:revision>
  <dcterms:created xsi:type="dcterms:W3CDTF">2026-04-01T07:30:22Z</dcterms:created>
  <dcterms:modified xsi:type="dcterms:W3CDTF">2026-04-01T07:50:09Z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Internal</vt:lpwstr>
  </property>
</Properties>
</file>